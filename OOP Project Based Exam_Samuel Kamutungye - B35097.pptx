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mailto:info@ucu.ac.ug" TargetMode="External"/><Relationship Id="rId5" Type="http://schemas.openxmlformats.org/officeDocument/2006/relationships/hyperlink" Target="https://ucu.ac.ug/" TargetMode="External"/><Relationship Id="rId4" Type="http://schemas.openxmlformats.org/officeDocument/2006/relationships/image" Target="../media/image5.png"/><Relationship Id="rId9"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2"/>
        <p:cNvGrpSpPr/>
        <p:nvPr/>
      </p:nvGrpSpPr>
      <p:grpSpPr>
        <a:xfrm>
          <a:off x="0" y="0"/>
          <a:ext cx="0" cy="0"/>
          <a:chOff x="0" y="0"/>
          <a:chExt cx="0" cy="0"/>
        </a:xfrm>
      </p:grpSpPr>
      <p:sp>
        <p:nvSpPr>
          <p:cNvPr id="23" name="Google Shape;23;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F497D"/>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4" name="Google Shape;24;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1900"/>
              <a:buNone/>
              <a:defRPr sz="2000"/>
            </a:lvl2pPr>
            <a:lvl3pPr lvl="2" algn="ctr">
              <a:lnSpc>
                <a:spcPct val="90000"/>
              </a:lnSpc>
              <a:spcBef>
                <a:spcPts val="500"/>
              </a:spcBef>
              <a:spcAft>
                <a:spcPts val="0"/>
              </a:spcAft>
              <a:buSzPts val="1620"/>
              <a:buNone/>
              <a:defRPr sz="1800"/>
            </a:lvl3pPr>
            <a:lvl4pPr lvl="3" algn="ctr">
              <a:lnSpc>
                <a:spcPct val="90000"/>
              </a:lnSpc>
              <a:spcBef>
                <a:spcPts val="500"/>
              </a:spcBef>
              <a:spcAft>
                <a:spcPts val="0"/>
              </a:spcAft>
              <a:buSzPts val="1408"/>
              <a:buNone/>
              <a:defRPr sz="1600"/>
            </a:lvl4pPr>
            <a:lvl5pPr lvl="4" algn="ctr">
              <a:lnSpc>
                <a:spcPct val="90000"/>
              </a:lnSpc>
              <a:spcBef>
                <a:spcPts val="500"/>
              </a:spcBef>
              <a:spcAft>
                <a:spcPts val="0"/>
              </a:spcAft>
              <a:buSzPts val="1376"/>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25" name="Google Shape;25;p11"/>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26" name="Google Shape;26;p11"/>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7" name="Google Shape;27;p11"/>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1509621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8"/>
        <p:cNvGrpSpPr/>
        <p:nvPr/>
      </p:nvGrpSpPr>
      <p:grpSpPr>
        <a:xfrm>
          <a:off x="0" y="0"/>
          <a:ext cx="0" cy="0"/>
          <a:chOff x="0" y="0"/>
          <a:chExt cx="0" cy="0"/>
        </a:xfrm>
      </p:grpSpPr>
      <p:sp>
        <p:nvSpPr>
          <p:cNvPr id="29" name="Google Shape;29;p12"/>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0" name="Google Shape;30;p12"/>
          <p:cNvSpPr txBox="1">
            <a:spLocks noGrp="1"/>
          </p:cNvSpPr>
          <p:nvPr>
            <p:ph type="body" idx="1"/>
          </p:nvPr>
        </p:nvSpPr>
        <p:spPr>
          <a:xfrm>
            <a:off x="838200" y="1687514"/>
            <a:ext cx="10515600" cy="44894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1" name="Google Shape;31;p12"/>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32" name="Google Shape;32;p12"/>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3" name="Google Shape;33;p12"/>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362105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st Slide">
  <p:cSld name="Last Slide">
    <p:spTree>
      <p:nvGrpSpPr>
        <p:cNvPr id="1" name="Shape 34"/>
        <p:cNvGrpSpPr/>
        <p:nvPr/>
      </p:nvGrpSpPr>
      <p:grpSpPr>
        <a:xfrm>
          <a:off x="0" y="0"/>
          <a:ext cx="0" cy="0"/>
          <a:chOff x="0" y="0"/>
          <a:chExt cx="0" cy="0"/>
        </a:xfrm>
      </p:grpSpPr>
      <p:sp>
        <p:nvSpPr>
          <p:cNvPr id="35" name="Google Shape;35;p18"/>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
        <p:nvSpPr>
          <p:cNvPr id="36" name="Google Shape;36;p18"/>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37" name="Google Shape;37;p18"/>
          <p:cNvSpPr txBox="1">
            <a:spLocks noGrp="1"/>
          </p:cNvSpPr>
          <p:nvPr>
            <p:ph type="ftr" idx="11"/>
          </p:nvPr>
        </p:nvSpPr>
        <p:spPr>
          <a:xfrm>
            <a:off x="2116899" y="6251714"/>
            <a:ext cx="8129391" cy="46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grpSp>
        <p:nvGrpSpPr>
          <p:cNvPr id="38" name="Google Shape;38;p18"/>
          <p:cNvGrpSpPr/>
          <p:nvPr/>
        </p:nvGrpSpPr>
        <p:grpSpPr>
          <a:xfrm>
            <a:off x="888267" y="4604423"/>
            <a:ext cx="5551131" cy="1360803"/>
            <a:chOff x="3063490" y="4400284"/>
            <a:chExt cx="5551131" cy="1360803"/>
          </a:xfrm>
        </p:grpSpPr>
        <p:grpSp>
          <p:nvGrpSpPr>
            <p:cNvPr id="39" name="Google Shape;39;p18"/>
            <p:cNvGrpSpPr/>
            <p:nvPr/>
          </p:nvGrpSpPr>
          <p:grpSpPr>
            <a:xfrm>
              <a:off x="4215162" y="4400284"/>
              <a:ext cx="4399459" cy="1360286"/>
              <a:chOff x="3595675" y="3836538"/>
              <a:chExt cx="5247402" cy="1632365"/>
            </a:xfrm>
          </p:grpSpPr>
          <p:pic>
            <p:nvPicPr>
              <p:cNvPr id="40" name="Google Shape;40;p18" descr="facebook instagram whatsapp PNG image with transparent background | TOPpng"/>
              <p:cNvPicPr preferRelativeResize="0"/>
              <p:nvPr/>
            </p:nvPicPr>
            <p:blipFill rotWithShape="1">
              <a:blip r:embed="rId2">
                <a:alphaModFix/>
              </a:blip>
              <a:srcRect r="66494" b="67238"/>
              <a:stretch/>
            </p:blipFill>
            <p:spPr>
              <a:xfrm>
                <a:off x="3693167" y="4915321"/>
                <a:ext cx="249211" cy="259159"/>
              </a:xfrm>
              <a:prstGeom prst="rect">
                <a:avLst/>
              </a:prstGeom>
              <a:noFill/>
              <a:ln>
                <a:noFill/>
              </a:ln>
            </p:spPr>
          </p:pic>
          <p:pic>
            <p:nvPicPr>
              <p:cNvPr id="41" name="Google Shape;41;p18" descr="facebook instagram whatsapp PNG image with transparent background | TOPpng"/>
              <p:cNvPicPr preferRelativeResize="0"/>
              <p:nvPr/>
            </p:nvPicPr>
            <p:blipFill rotWithShape="1">
              <a:blip r:embed="rId3">
                <a:alphaModFix/>
              </a:blip>
              <a:srcRect l="67402" b="69905"/>
              <a:stretch/>
            </p:blipFill>
            <p:spPr>
              <a:xfrm>
                <a:off x="3685804" y="5173122"/>
                <a:ext cx="263933" cy="259160"/>
              </a:xfrm>
              <a:prstGeom prst="rect">
                <a:avLst/>
              </a:prstGeom>
              <a:noFill/>
              <a:ln>
                <a:noFill/>
              </a:ln>
            </p:spPr>
          </p:pic>
          <p:pic>
            <p:nvPicPr>
              <p:cNvPr id="42" name="Google Shape;42;p18" descr="Round black telephone logo, Telephone Icon, Phone File, electronics, logo,  black And White png | PNGWing"/>
              <p:cNvPicPr preferRelativeResize="0"/>
              <p:nvPr/>
            </p:nvPicPr>
            <p:blipFill rotWithShape="1">
              <a:blip r:embed="rId4">
                <a:alphaModFix/>
              </a:blip>
              <a:srcRect/>
              <a:stretch/>
            </p:blipFill>
            <p:spPr>
              <a:xfrm>
                <a:off x="3693167" y="4579064"/>
                <a:ext cx="249209" cy="259159"/>
              </a:xfrm>
              <a:prstGeom prst="rect">
                <a:avLst/>
              </a:prstGeom>
              <a:noFill/>
              <a:ln>
                <a:noFill/>
              </a:ln>
            </p:spPr>
          </p:pic>
          <p:sp>
            <p:nvSpPr>
              <p:cNvPr id="43" name="Google Shape;43;p18"/>
              <p:cNvSpPr txBox="1"/>
              <p:nvPr/>
            </p:nvSpPr>
            <p:spPr>
              <a:xfrm>
                <a:off x="3943860" y="4840719"/>
                <a:ext cx="2964236" cy="332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Trebuchet MS"/>
                    <a:ea typeface="Trebuchet MS"/>
                    <a:cs typeface="Trebuchet MS"/>
                    <a:sym typeface="Trebuchet MS"/>
                  </a:rPr>
                  <a:t>@ugandachristianuniversity</a:t>
                </a:r>
                <a:endParaRPr sz="1200" b="0" i="0" u="none" strike="noStrike" cap="none">
                  <a:solidFill>
                    <a:srgbClr val="000000"/>
                  </a:solidFill>
                  <a:latin typeface="Trebuchet MS"/>
                  <a:ea typeface="Trebuchet MS"/>
                  <a:cs typeface="Trebuchet MS"/>
                  <a:sym typeface="Trebuchet MS"/>
                </a:endParaRPr>
              </a:p>
            </p:txBody>
          </p:sp>
          <p:sp>
            <p:nvSpPr>
              <p:cNvPr id="44" name="Google Shape;44;p18"/>
              <p:cNvSpPr txBox="1"/>
              <p:nvPr/>
            </p:nvSpPr>
            <p:spPr>
              <a:xfrm>
                <a:off x="6724749" y="4848559"/>
                <a:ext cx="1781016" cy="3693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GB" sz="1350" b="0" i="0" u="none" strike="noStrike" cap="none">
                    <a:solidFill>
                      <a:srgbClr val="0C0C0C"/>
                    </a:solidFill>
                    <a:latin typeface="Trebuchet MS"/>
                    <a:ea typeface="Trebuchet MS"/>
                    <a:cs typeface="Trebuchet MS"/>
                    <a:sym typeface="Trebuchet MS"/>
                  </a:rPr>
                  <a:t>@</a:t>
                </a:r>
                <a:r>
                  <a:rPr lang="en-GB" sz="1200" b="0" i="0" u="none" strike="noStrike" cap="none">
                    <a:solidFill>
                      <a:srgbClr val="0C0C0C"/>
                    </a:solidFill>
                    <a:latin typeface="Trebuchet MS"/>
                    <a:ea typeface="Trebuchet MS"/>
                    <a:cs typeface="Trebuchet MS"/>
                    <a:sym typeface="Trebuchet MS"/>
                  </a:rPr>
                  <a:t>UCUniversity</a:t>
                </a:r>
                <a:endParaRPr sz="1350" b="0" i="0" u="none" strike="noStrike" cap="none">
                  <a:solidFill>
                    <a:srgbClr val="0C0C0C"/>
                  </a:solidFill>
                  <a:latin typeface="Trebuchet MS"/>
                  <a:ea typeface="Trebuchet MS"/>
                  <a:cs typeface="Trebuchet MS"/>
                  <a:sym typeface="Trebuchet MS"/>
                </a:endParaRPr>
              </a:p>
            </p:txBody>
          </p:sp>
          <p:sp>
            <p:nvSpPr>
              <p:cNvPr id="45" name="Google Shape;45;p18"/>
              <p:cNvSpPr txBox="1"/>
              <p:nvPr/>
            </p:nvSpPr>
            <p:spPr>
              <a:xfrm>
                <a:off x="3961223" y="5136500"/>
                <a:ext cx="3240066" cy="332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C0C0C"/>
                    </a:solidFill>
                    <a:latin typeface="Trebuchet MS"/>
                    <a:ea typeface="Trebuchet MS"/>
                    <a:cs typeface="Trebuchet MS"/>
                    <a:sym typeface="Trebuchet MS"/>
                  </a:rPr>
                  <a:t>@UgandaChristianUniversity</a:t>
                </a:r>
                <a:endParaRPr sz="1200" b="0" i="0" u="none" strike="noStrike" cap="none">
                  <a:solidFill>
                    <a:srgbClr val="0C0C0C"/>
                  </a:solidFill>
                  <a:latin typeface="Trebuchet MS"/>
                  <a:ea typeface="Trebuchet MS"/>
                  <a:cs typeface="Trebuchet MS"/>
                  <a:sym typeface="Trebuchet MS"/>
                </a:endParaRPr>
              </a:p>
            </p:txBody>
          </p:sp>
          <p:sp>
            <p:nvSpPr>
              <p:cNvPr id="46" name="Google Shape;46;p18"/>
              <p:cNvSpPr txBox="1"/>
              <p:nvPr/>
            </p:nvSpPr>
            <p:spPr>
              <a:xfrm>
                <a:off x="3619181" y="4118017"/>
                <a:ext cx="5223896" cy="7202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P.O. Box 4 Mukono, Uganda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Tel: 256-312-350800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FF"/>
                  </a:buClr>
                  <a:buSzPts val="1100"/>
                  <a:buFont typeface="Trebuchet MS"/>
                  <a:buNone/>
                </a:pPr>
                <a:r>
                  <a:rPr lang="en-GB" sz="1100" b="0" i="0" u="sng" strike="noStrike" cap="none">
                    <a:solidFill>
                      <a:srgbClr val="0000FF"/>
                    </a:solidFill>
                    <a:latin typeface="Trebuchet MS"/>
                    <a:ea typeface="Trebuchet MS"/>
                    <a:cs typeface="Trebuchet MS"/>
                    <a:sym typeface="Trebuchet MS"/>
                    <a:hlinkClick r:id="rId5">
                      <a:extLst>
                        <a:ext uri="{A12FA001-AC4F-418D-AE19-62706E023703}">
                          <ahyp:hlinkClr xmlns:ahyp="http://schemas.microsoft.com/office/drawing/2018/hyperlinkcolor" val="tx"/>
                        </a:ext>
                      </a:extLst>
                    </a:hlinkClick>
                  </a:rPr>
                  <a:t>      https://ucu.ac.ug/</a:t>
                </a:r>
                <a:r>
                  <a:rPr lang="en-GB" sz="1100" b="0" i="0" u="none" strike="noStrike" cap="none">
                    <a:solidFill>
                      <a:srgbClr val="0000FF"/>
                    </a:solidFill>
                    <a:latin typeface="Trebuchet MS"/>
                    <a:ea typeface="Trebuchet MS"/>
                    <a:cs typeface="Trebuchet MS"/>
                    <a:sym typeface="Trebuchet MS"/>
                  </a:rPr>
                  <a:t> </a:t>
                </a:r>
                <a:r>
                  <a:rPr lang="en-GB" sz="1100" b="0" i="0" u="none" strike="noStrike" cap="none">
                    <a:solidFill>
                      <a:srgbClr val="1E4E79"/>
                    </a:solidFill>
                    <a:latin typeface="Trebuchet MS"/>
                    <a:ea typeface="Trebuchet MS"/>
                    <a:cs typeface="Trebuchet MS"/>
                    <a:sym typeface="Trebuchet MS"/>
                  </a:rPr>
                  <a:t>   Email: </a:t>
                </a:r>
                <a:r>
                  <a:rPr lang="en-GB" sz="1100" b="0" i="0" u="sng" strike="noStrike" cap="none">
                    <a:solidFill>
                      <a:srgbClr val="0000FF"/>
                    </a:solidFill>
                    <a:latin typeface="Trebuchet MS"/>
                    <a:ea typeface="Trebuchet MS"/>
                    <a:cs typeface="Trebuchet MS"/>
                    <a:sym typeface="Trebuchet MS"/>
                    <a:hlinkClick r:id="rId6">
                      <a:extLst>
                        <a:ext uri="{A12FA001-AC4F-418D-AE19-62706E023703}">
                          <ahyp:hlinkClr xmlns:ahyp="http://schemas.microsoft.com/office/drawing/2018/hyperlinkcolor" val="tx"/>
                        </a:ext>
                      </a:extLst>
                    </a:hlinkClick>
                  </a:rPr>
                  <a:t>info@ucu.ac.ug</a:t>
                </a:r>
                <a:r>
                  <a:rPr lang="en-GB" sz="1100" b="0" i="0" u="none" strike="noStrike" cap="none">
                    <a:solidFill>
                      <a:srgbClr val="0000FF"/>
                    </a:solidFill>
                    <a:latin typeface="Trebuchet MS"/>
                    <a:ea typeface="Trebuchet MS"/>
                    <a:cs typeface="Trebuchet MS"/>
                    <a:sym typeface="Trebuchet MS"/>
                  </a:rPr>
                  <a:t>.   </a:t>
                </a:r>
                <a:endParaRPr sz="1400" b="0" i="0" u="none" strike="noStrike" cap="none">
                  <a:solidFill>
                    <a:srgbClr val="000000"/>
                  </a:solidFill>
                  <a:latin typeface="Arial"/>
                  <a:ea typeface="Arial"/>
                  <a:cs typeface="Arial"/>
                  <a:sym typeface="Arial"/>
                </a:endParaRPr>
              </a:p>
            </p:txBody>
          </p:sp>
          <p:sp>
            <p:nvSpPr>
              <p:cNvPr id="47" name="Google Shape;47;p18"/>
              <p:cNvSpPr txBox="1"/>
              <p:nvPr/>
            </p:nvSpPr>
            <p:spPr>
              <a:xfrm>
                <a:off x="3595675" y="3836538"/>
                <a:ext cx="4174870" cy="406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1E4E79"/>
                    </a:solidFill>
                    <a:latin typeface="Trebuchet MS"/>
                    <a:ea typeface="Trebuchet MS"/>
                    <a:cs typeface="Trebuchet MS"/>
                    <a:sym typeface="Trebuchet MS"/>
                  </a:rPr>
                  <a:t>Uganda Christian University</a:t>
                </a:r>
                <a:endParaRPr sz="1600" b="0" i="0" u="none" strike="noStrike" cap="none">
                  <a:solidFill>
                    <a:srgbClr val="1E4E79"/>
                  </a:solidFill>
                  <a:latin typeface="Trebuchet MS"/>
                  <a:ea typeface="Trebuchet MS"/>
                  <a:cs typeface="Trebuchet MS"/>
                  <a:sym typeface="Trebuchet MS"/>
                </a:endParaRPr>
              </a:p>
            </p:txBody>
          </p:sp>
          <p:pic>
            <p:nvPicPr>
              <p:cNvPr id="48" name="Google Shape;48;p18" descr="facebook instagram whatsapp PNG image with transparent background | TOPpng"/>
              <p:cNvPicPr preferRelativeResize="0"/>
              <p:nvPr/>
            </p:nvPicPr>
            <p:blipFill rotWithShape="1">
              <a:blip r:embed="rId3">
                <a:alphaModFix/>
              </a:blip>
              <a:srcRect t="34921" r="64675" b="31937"/>
              <a:stretch/>
            </p:blipFill>
            <p:spPr>
              <a:xfrm>
                <a:off x="6492923" y="4908033"/>
                <a:ext cx="260459" cy="259903"/>
              </a:xfrm>
              <a:prstGeom prst="rect">
                <a:avLst/>
              </a:prstGeom>
              <a:noFill/>
              <a:ln>
                <a:noFill/>
              </a:ln>
            </p:spPr>
          </p:pic>
        </p:grpSp>
        <p:pic>
          <p:nvPicPr>
            <p:cNvPr id="49" name="Google Shape;49;p18"/>
            <p:cNvPicPr preferRelativeResize="0"/>
            <p:nvPr/>
          </p:nvPicPr>
          <p:blipFill rotWithShape="1">
            <a:blip r:embed="rId7">
              <a:alphaModFix/>
            </a:blip>
            <a:srcRect l="4177" t="16271" r="77310" b="16736"/>
            <a:stretch/>
          </p:blipFill>
          <p:spPr>
            <a:xfrm>
              <a:off x="3063490" y="4440462"/>
              <a:ext cx="1197778" cy="1320625"/>
            </a:xfrm>
            <a:prstGeom prst="rect">
              <a:avLst/>
            </a:prstGeom>
            <a:noFill/>
            <a:ln>
              <a:noFill/>
            </a:ln>
          </p:spPr>
        </p:pic>
      </p:grpSp>
      <p:pic>
        <p:nvPicPr>
          <p:cNvPr id="50" name="Google Shape;50;p18" descr="Red button thank you icon Royalty Free Vector Image"/>
          <p:cNvPicPr preferRelativeResize="0"/>
          <p:nvPr/>
        </p:nvPicPr>
        <p:blipFill rotWithShape="1">
          <a:blip r:embed="rId8">
            <a:alphaModFix/>
          </a:blip>
          <a:srcRect b="13038"/>
          <a:stretch/>
        </p:blipFill>
        <p:spPr>
          <a:xfrm>
            <a:off x="5409985" y="1899157"/>
            <a:ext cx="1825644" cy="1704122"/>
          </a:xfrm>
          <a:prstGeom prst="rect">
            <a:avLst/>
          </a:prstGeom>
          <a:noFill/>
          <a:ln>
            <a:noFill/>
          </a:ln>
        </p:spPr>
      </p:pic>
      <p:grpSp>
        <p:nvGrpSpPr>
          <p:cNvPr id="51" name="Google Shape;51;p18"/>
          <p:cNvGrpSpPr/>
          <p:nvPr/>
        </p:nvGrpSpPr>
        <p:grpSpPr>
          <a:xfrm>
            <a:off x="8223082" y="4505034"/>
            <a:ext cx="4710416" cy="1774757"/>
            <a:chOff x="4261082" y="3159912"/>
            <a:chExt cx="5618294" cy="2129734"/>
          </a:xfrm>
        </p:grpSpPr>
        <p:pic>
          <p:nvPicPr>
            <p:cNvPr id="52" name="Google Shape;52;p18" descr="facebook instagram whatsapp PNG image with transparent background | TOPpng"/>
            <p:cNvPicPr preferRelativeResize="0"/>
            <p:nvPr/>
          </p:nvPicPr>
          <p:blipFill rotWithShape="1">
            <a:blip r:embed="rId2">
              <a:alphaModFix/>
            </a:blip>
            <a:srcRect r="66494" b="67238"/>
            <a:stretch/>
          </p:blipFill>
          <p:spPr>
            <a:xfrm>
              <a:off x="4333142" y="4196730"/>
              <a:ext cx="277638" cy="288721"/>
            </a:xfrm>
            <a:prstGeom prst="rect">
              <a:avLst/>
            </a:prstGeom>
            <a:noFill/>
            <a:ln>
              <a:noFill/>
            </a:ln>
          </p:spPr>
        </p:pic>
        <p:pic>
          <p:nvPicPr>
            <p:cNvPr id="53" name="Google Shape;53;p18" descr="Round black telephone logo, Telephone Icon, Phone File, electronics, logo,  black And White png | PNGWing"/>
            <p:cNvPicPr preferRelativeResize="0"/>
            <p:nvPr/>
          </p:nvPicPr>
          <p:blipFill rotWithShape="1">
            <a:blip r:embed="rId4">
              <a:alphaModFix/>
            </a:blip>
            <a:srcRect/>
            <a:stretch/>
          </p:blipFill>
          <p:spPr>
            <a:xfrm>
              <a:off x="4362423" y="4497666"/>
              <a:ext cx="245303" cy="255097"/>
            </a:xfrm>
            <a:prstGeom prst="rect">
              <a:avLst/>
            </a:prstGeom>
            <a:noFill/>
            <a:ln>
              <a:noFill/>
            </a:ln>
          </p:spPr>
        </p:pic>
        <p:sp>
          <p:nvSpPr>
            <p:cNvPr id="54" name="Google Shape;54;p18"/>
            <p:cNvSpPr txBox="1"/>
            <p:nvPr/>
          </p:nvSpPr>
          <p:spPr>
            <a:xfrm>
              <a:off x="4629313" y="4929543"/>
              <a:ext cx="2964236" cy="360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Trebuchet MS"/>
                <a:ea typeface="Trebuchet MS"/>
                <a:cs typeface="Trebuchet MS"/>
                <a:sym typeface="Trebuchet MS"/>
              </a:endParaRPr>
            </a:p>
          </p:txBody>
        </p:sp>
        <p:sp>
          <p:nvSpPr>
            <p:cNvPr id="55" name="Google Shape;55;p18"/>
            <p:cNvSpPr txBox="1"/>
            <p:nvPr/>
          </p:nvSpPr>
          <p:spPr>
            <a:xfrm>
              <a:off x="4547946" y="4468247"/>
              <a:ext cx="1959178" cy="3139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0000FF"/>
                  </a:solidFill>
                  <a:latin typeface="Trebuchet MS"/>
                  <a:ea typeface="Trebuchet MS"/>
                  <a:cs typeface="Trebuchet MS"/>
                  <a:sym typeface="Trebuchet MS"/>
                </a:rPr>
                <a:t>https://cse.ucu.ac.ug/</a:t>
              </a:r>
              <a:endParaRPr sz="1100" b="0" i="0" u="none" strike="noStrike" cap="none">
                <a:solidFill>
                  <a:srgbClr val="0000FF"/>
                </a:solidFill>
                <a:latin typeface="Trebuchet MS"/>
                <a:ea typeface="Trebuchet MS"/>
                <a:cs typeface="Trebuchet MS"/>
                <a:sym typeface="Trebuchet MS"/>
              </a:endParaRPr>
            </a:p>
          </p:txBody>
        </p:sp>
        <p:sp>
          <p:nvSpPr>
            <p:cNvPr id="56" name="Google Shape;56;p18"/>
            <p:cNvSpPr txBox="1"/>
            <p:nvPr/>
          </p:nvSpPr>
          <p:spPr>
            <a:xfrm>
              <a:off x="6285518" y="4170852"/>
              <a:ext cx="1750610" cy="332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C0C0C"/>
                  </a:solidFill>
                  <a:latin typeface="Trebuchet MS"/>
                  <a:ea typeface="Trebuchet MS"/>
                  <a:cs typeface="Trebuchet MS"/>
                  <a:sym typeface="Trebuchet MS"/>
                </a:rPr>
                <a:t>@ucu_ComputEng</a:t>
              </a:r>
              <a:endParaRPr sz="1200" b="0" i="0" u="none" strike="noStrike" cap="none">
                <a:solidFill>
                  <a:srgbClr val="0C0C0C"/>
                </a:solidFill>
                <a:latin typeface="Trebuchet MS"/>
                <a:ea typeface="Trebuchet MS"/>
                <a:cs typeface="Trebuchet MS"/>
                <a:sym typeface="Trebuchet MS"/>
              </a:endParaRPr>
            </a:p>
          </p:txBody>
        </p:sp>
        <p:sp>
          <p:nvSpPr>
            <p:cNvPr id="57" name="Google Shape;57;p18"/>
            <p:cNvSpPr txBox="1"/>
            <p:nvPr/>
          </p:nvSpPr>
          <p:spPr>
            <a:xfrm>
              <a:off x="4547946" y="4152767"/>
              <a:ext cx="1581881" cy="3139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0C0C0C"/>
                  </a:solidFill>
                  <a:latin typeface="Trebuchet MS"/>
                  <a:ea typeface="Trebuchet MS"/>
                  <a:cs typeface="Trebuchet MS"/>
                  <a:sym typeface="Trebuchet MS"/>
                </a:rPr>
                <a:t>@ucucomputeng</a:t>
              </a:r>
              <a:endParaRPr sz="1100" b="0" i="0" u="none" strike="noStrike" cap="none">
                <a:solidFill>
                  <a:srgbClr val="0C0C0C"/>
                </a:solidFill>
                <a:latin typeface="Trebuchet MS"/>
                <a:ea typeface="Trebuchet MS"/>
                <a:cs typeface="Trebuchet MS"/>
                <a:sym typeface="Trebuchet MS"/>
              </a:endParaRPr>
            </a:p>
          </p:txBody>
        </p:sp>
        <p:sp>
          <p:nvSpPr>
            <p:cNvPr id="58" name="Google Shape;58;p18"/>
            <p:cNvSpPr txBox="1"/>
            <p:nvPr/>
          </p:nvSpPr>
          <p:spPr>
            <a:xfrm>
              <a:off x="4281392" y="3800378"/>
              <a:ext cx="5597984" cy="3139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Tel: +256 (0) 312 350 863 | WhatsApp: +256 (0) 708 114 300</a:t>
              </a:r>
              <a:endParaRPr sz="1400" b="0" i="0" u="none" strike="noStrike" cap="none">
                <a:solidFill>
                  <a:srgbClr val="000000"/>
                </a:solidFill>
                <a:latin typeface="Arial"/>
                <a:ea typeface="Arial"/>
                <a:cs typeface="Arial"/>
                <a:sym typeface="Arial"/>
              </a:endParaRPr>
            </a:p>
          </p:txBody>
        </p:sp>
        <p:sp>
          <p:nvSpPr>
            <p:cNvPr id="59" name="Google Shape;59;p18"/>
            <p:cNvSpPr txBox="1"/>
            <p:nvPr/>
          </p:nvSpPr>
          <p:spPr>
            <a:xfrm>
              <a:off x="4261082" y="3159912"/>
              <a:ext cx="5597985" cy="6278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1E4E79"/>
                  </a:solidFill>
                  <a:latin typeface="Trebuchet MS"/>
                  <a:ea typeface="Trebuchet MS"/>
                  <a:cs typeface="Trebuchet MS"/>
                  <a:sym typeface="Trebuchet MS"/>
                </a:rPr>
                <a:t>Department of Computing &amp; Technology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C00000"/>
                  </a:solidFill>
                  <a:latin typeface="Trebuchet MS"/>
                  <a:ea typeface="Trebuchet MS"/>
                  <a:cs typeface="Trebuchet MS"/>
                  <a:sym typeface="Trebuchet MS"/>
                </a:rPr>
                <a:t>FACULTY OF ENGINEERING, DESIGN AND TECHNOLOGY</a:t>
              </a:r>
              <a:endParaRPr sz="1200" b="0" i="0" u="none" strike="noStrike" cap="none">
                <a:solidFill>
                  <a:srgbClr val="C00000"/>
                </a:solidFill>
                <a:latin typeface="Trebuchet MS"/>
                <a:ea typeface="Trebuchet MS"/>
                <a:cs typeface="Trebuchet MS"/>
                <a:sym typeface="Trebuchet MS"/>
              </a:endParaRPr>
            </a:p>
          </p:txBody>
        </p:sp>
        <p:pic>
          <p:nvPicPr>
            <p:cNvPr id="60" name="Google Shape;60;p18" descr="facebook instagram whatsapp PNG image with transparent background | TOPpng"/>
            <p:cNvPicPr preferRelativeResize="0"/>
            <p:nvPr/>
          </p:nvPicPr>
          <p:blipFill rotWithShape="1">
            <a:blip r:embed="rId3">
              <a:alphaModFix/>
            </a:blip>
            <a:srcRect t="34921" r="64675" b="31937"/>
            <a:stretch/>
          </p:blipFill>
          <p:spPr>
            <a:xfrm>
              <a:off x="6070315" y="4226614"/>
              <a:ext cx="301120" cy="300476"/>
            </a:xfrm>
            <a:prstGeom prst="rect">
              <a:avLst/>
            </a:prstGeom>
            <a:noFill/>
            <a:ln>
              <a:noFill/>
            </a:ln>
          </p:spPr>
        </p:pic>
      </p:grpSp>
      <p:sp>
        <p:nvSpPr>
          <p:cNvPr id="61" name="Google Shape;61;p18"/>
          <p:cNvSpPr txBox="1"/>
          <p:nvPr/>
        </p:nvSpPr>
        <p:spPr>
          <a:xfrm>
            <a:off x="10081508" y="5598486"/>
            <a:ext cx="200074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Email: dct-</a:t>
            </a:r>
            <a:r>
              <a:rPr lang="en-GB" sz="1100" b="0" i="0" u="sng" strike="noStrike" cap="none">
                <a:solidFill>
                  <a:srgbClr val="0000FF"/>
                </a:solidFill>
                <a:latin typeface="Trebuchet MS"/>
                <a:ea typeface="Trebuchet MS"/>
                <a:cs typeface="Trebuchet MS"/>
                <a:sym typeface="Trebuchet MS"/>
                <a:hlinkClick r:id="rId6">
                  <a:extLst>
                    <a:ext uri="{A12FA001-AC4F-418D-AE19-62706E023703}">
                      <ahyp:hlinkClr xmlns:ahyp="http://schemas.microsoft.com/office/drawing/2018/hyperlinkcolor" val="tx"/>
                    </a:ext>
                  </a:extLst>
                </a:hlinkClick>
              </a:rPr>
              <a:t>info@ucu.ac.ug</a:t>
            </a:r>
            <a:endParaRPr sz="1100" b="0" i="0" u="none" strike="noStrike" cap="none">
              <a:solidFill>
                <a:srgbClr val="0000FF"/>
              </a:solidFill>
              <a:latin typeface="Trebuchet MS"/>
              <a:ea typeface="Trebuchet MS"/>
              <a:cs typeface="Trebuchet MS"/>
              <a:sym typeface="Trebuchet MS"/>
            </a:endParaRPr>
          </a:p>
        </p:txBody>
      </p:sp>
      <p:pic>
        <p:nvPicPr>
          <p:cNvPr id="62" name="Google Shape;62;p18"/>
          <p:cNvPicPr preferRelativeResize="0"/>
          <p:nvPr/>
        </p:nvPicPr>
        <p:blipFill rotWithShape="1">
          <a:blip r:embed="rId9">
            <a:alphaModFix/>
          </a:blip>
          <a:srcRect/>
          <a:stretch/>
        </p:blipFill>
        <p:spPr>
          <a:xfrm flipH="1">
            <a:off x="7631107" y="4473507"/>
            <a:ext cx="634564" cy="1407474"/>
          </a:xfrm>
          <a:prstGeom prst="rect">
            <a:avLst/>
          </a:prstGeom>
          <a:noFill/>
          <a:ln>
            <a:noFill/>
          </a:ln>
        </p:spPr>
      </p:pic>
      <p:cxnSp>
        <p:nvCxnSpPr>
          <p:cNvPr id="63" name="Google Shape;63;p18"/>
          <p:cNvCxnSpPr/>
          <p:nvPr/>
        </p:nvCxnSpPr>
        <p:spPr>
          <a:xfrm flipH="1">
            <a:off x="345989" y="4505034"/>
            <a:ext cx="11846011" cy="105016"/>
          </a:xfrm>
          <a:prstGeom prst="straightConnector1">
            <a:avLst/>
          </a:prstGeom>
          <a:noFill/>
          <a:ln w="9525" cap="flat" cmpd="sng">
            <a:solidFill>
              <a:schemeClr val="accent1"/>
            </a:solidFill>
            <a:prstDash val="solid"/>
            <a:miter lim="800000"/>
            <a:headEnd type="none" w="sm" len="sm"/>
            <a:tailEnd type="none" w="sm" len="sm"/>
          </a:ln>
        </p:spPr>
      </p:cxnSp>
      <p:sp>
        <p:nvSpPr>
          <p:cNvPr id="64" name="Google Shape;64;p18"/>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575357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67" name="Google Shape;67;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68" name="Google Shape;68;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69" name="Google Shape;69;p13"/>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70" name="Google Shape;70;p13"/>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1" name="Google Shape;71;p13"/>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1616096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F497D"/>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74" name="Google Shape;7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888888"/>
                </a:solidFill>
              </a:defRPr>
            </a:lvl1pPr>
            <a:lvl2pPr marL="914400" lvl="1" indent="-228600" algn="l">
              <a:lnSpc>
                <a:spcPct val="90000"/>
              </a:lnSpc>
              <a:spcBef>
                <a:spcPts val="500"/>
              </a:spcBef>
              <a:spcAft>
                <a:spcPts val="0"/>
              </a:spcAft>
              <a:buSzPts val="1900"/>
              <a:buNone/>
              <a:defRPr sz="2000">
                <a:solidFill>
                  <a:srgbClr val="888888"/>
                </a:solidFill>
              </a:defRPr>
            </a:lvl2pPr>
            <a:lvl3pPr marL="1371600" lvl="2" indent="-228600" algn="l">
              <a:lnSpc>
                <a:spcPct val="90000"/>
              </a:lnSpc>
              <a:spcBef>
                <a:spcPts val="500"/>
              </a:spcBef>
              <a:spcAft>
                <a:spcPts val="0"/>
              </a:spcAft>
              <a:buSzPts val="1620"/>
              <a:buNone/>
              <a:defRPr sz="1800">
                <a:solidFill>
                  <a:srgbClr val="888888"/>
                </a:solidFill>
              </a:defRPr>
            </a:lvl3pPr>
            <a:lvl4pPr marL="1828800" lvl="3" indent="-228600" algn="l">
              <a:lnSpc>
                <a:spcPct val="90000"/>
              </a:lnSpc>
              <a:spcBef>
                <a:spcPts val="500"/>
              </a:spcBef>
              <a:spcAft>
                <a:spcPts val="0"/>
              </a:spcAft>
              <a:buSzPts val="1408"/>
              <a:buNone/>
              <a:defRPr sz="1600">
                <a:solidFill>
                  <a:srgbClr val="888888"/>
                </a:solidFill>
              </a:defRPr>
            </a:lvl4pPr>
            <a:lvl5pPr marL="2286000" lvl="4" indent="-228600" algn="l">
              <a:lnSpc>
                <a:spcPct val="90000"/>
              </a:lnSpc>
              <a:spcBef>
                <a:spcPts val="500"/>
              </a:spcBef>
              <a:spcAft>
                <a:spcPts val="0"/>
              </a:spcAft>
              <a:buSzPts val="1376"/>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75" name="Google Shape;75;p19"/>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76" name="Google Shape;76;p19"/>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7" name="Google Shape;77;p19"/>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112009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80" name="Google Shape;80;p20"/>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81" name="Google Shape;81;p20"/>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82" name="Google Shape;82;p20"/>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4287668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85" name="Google Shape;85;p21"/>
          <p:cNvSpPr txBox="1">
            <a:spLocks noGrp="1"/>
          </p:cNvSpPr>
          <p:nvPr>
            <p:ph type="body" idx="1"/>
          </p:nvPr>
        </p:nvSpPr>
        <p:spPr>
          <a:xfrm rot="5400000">
            <a:off x="3851275" y="-1325561"/>
            <a:ext cx="448945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 name="Google Shape;86;p21"/>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87" name="Google Shape;87;p21"/>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88" name="Google Shape;88;p21"/>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2964462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91" name="Google Shape;91;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2" name="Google Shape;92;p22"/>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6B6EEB5-686E-4034-A9A1-6A9DF57B7100}" type="datetimeFigureOut">
              <a:rPr lang="en-US" smtClean="0"/>
              <a:t>12/10/2025</a:t>
            </a:fld>
            <a:endParaRPr lang="en-US"/>
          </a:p>
        </p:txBody>
      </p:sp>
      <p:sp>
        <p:nvSpPr>
          <p:cNvPr id="93" name="Google Shape;93;p22"/>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94" name="Google Shape;94;p22"/>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1154237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www.ucu.ac.ug/"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hyperlink" Target="mailto:info@ucu.ac.ug" TargetMode="Externa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0"/>
          <p:cNvPicPr preferRelativeResize="0"/>
          <p:nvPr/>
        </p:nvPicPr>
        <p:blipFill rotWithShape="1">
          <a:blip r:embed="rId10">
            <a:alphaModFix/>
          </a:blip>
          <a:srcRect/>
          <a:stretch/>
        </p:blipFill>
        <p:spPr>
          <a:xfrm>
            <a:off x="9776791" y="0"/>
            <a:ext cx="2415209" cy="735885"/>
          </a:xfrm>
          <a:prstGeom prst="rect">
            <a:avLst/>
          </a:prstGeom>
          <a:noFill/>
          <a:ln>
            <a:noFill/>
          </a:ln>
        </p:spPr>
      </p:pic>
      <p:sp>
        <p:nvSpPr>
          <p:cNvPr id="11" name="Google Shape;11;p1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F497D"/>
              </a:buClr>
              <a:buSzPts val="4400"/>
              <a:buFont typeface="Trebuchet MS"/>
              <a:buNone/>
              <a:defRPr sz="4400" b="0" i="0" u="none" strike="noStrike" cap="none">
                <a:solidFill>
                  <a:srgbClr val="1F497D"/>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0"/>
          <p:cNvSpPr txBox="1">
            <a:spLocks noGrp="1"/>
          </p:cNvSpPr>
          <p:nvPr>
            <p:ph type="body" idx="1"/>
          </p:nvPr>
        </p:nvSpPr>
        <p:spPr>
          <a:xfrm>
            <a:off x="838200" y="1687514"/>
            <a:ext cx="10515600" cy="44894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D7014D"/>
              </a:buClr>
              <a:buSzPts val="2800"/>
              <a:buFont typeface="Noto Sans Symbols"/>
              <a:buChar char="❑"/>
              <a:defRPr sz="2800" b="0" i="0" u="none" strike="noStrike" cap="none">
                <a:solidFill>
                  <a:schemeClr val="dk1"/>
                </a:solidFill>
                <a:latin typeface="Trebuchet MS"/>
                <a:ea typeface="Trebuchet MS"/>
                <a:cs typeface="Trebuchet MS"/>
                <a:sym typeface="Trebuchet MS"/>
              </a:defRPr>
            </a:lvl1pPr>
            <a:lvl2pPr marL="914400" marR="0" lvl="1" indent="-373380" algn="l" rtl="0">
              <a:lnSpc>
                <a:spcPct val="90000"/>
              </a:lnSpc>
              <a:spcBef>
                <a:spcPts val="500"/>
              </a:spcBef>
              <a:spcAft>
                <a:spcPts val="0"/>
              </a:spcAft>
              <a:buClr>
                <a:srgbClr val="0B3D91"/>
              </a:buClr>
              <a:buSzPts val="2280"/>
              <a:buFont typeface="Noto Sans Symbols"/>
              <a:buChar char="❑"/>
              <a:defRPr sz="2400" b="0" i="0" u="none" strike="noStrike" cap="none">
                <a:solidFill>
                  <a:schemeClr val="dk1"/>
                </a:solidFill>
                <a:latin typeface="Trebuchet MS"/>
                <a:ea typeface="Trebuchet MS"/>
                <a:cs typeface="Trebuchet MS"/>
                <a:sym typeface="Trebuchet MS"/>
              </a:defRPr>
            </a:lvl2pPr>
            <a:lvl3pPr marL="1371600" marR="0" lvl="2" indent="-342900" algn="l" rtl="0">
              <a:lnSpc>
                <a:spcPct val="90000"/>
              </a:lnSpc>
              <a:spcBef>
                <a:spcPts val="500"/>
              </a:spcBef>
              <a:spcAft>
                <a:spcPts val="0"/>
              </a:spcAft>
              <a:buClr>
                <a:srgbClr val="D70167"/>
              </a:buClr>
              <a:buSzPts val="1800"/>
              <a:buFont typeface="Noto Sans Symbols"/>
              <a:buChar char="❑"/>
              <a:defRPr sz="2000" b="0" i="0" u="none" strike="noStrike" cap="none">
                <a:solidFill>
                  <a:schemeClr val="dk1"/>
                </a:solidFill>
                <a:latin typeface="Trebuchet MS"/>
                <a:ea typeface="Trebuchet MS"/>
                <a:cs typeface="Trebuchet MS"/>
                <a:sym typeface="Trebuchet MS"/>
              </a:defRPr>
            </a:lvl3pPr>
            <a:lvl4pPr marL="1828800" marR="0" lvl="3" indent="-329183" algn="l" rtl="0">
              <a:lnSpc>
                <a:spcPct val="90000"/>
              </a:lnSpc>
              <a:spcBef>
                <a:spcPts val="500"/>
              </a:spcBef>
              <a:spcAft>
                <a:spcPts val="0"/>
              </a:spcAft>
              <a:buClr>
                <a:srgbClr val="D70167"/>
              </a:buClr>
              <a:buSzPts val="1584"/>
              <a:buFont typeface="Noto Sans Symbols"/>
              <a:buChar char="❑"/>
              <a:defRPr sz="1800" b="0" i="0" u="none" strike="noStrike" cap="none">
                <a:solidFill>
                  <a:schemeClr val="dk1"/>
                </a:solidFill>
                <a:latin typeface="Trebuchet MS"/>
                <a:ea typeface="Trebuchet MS"/>
                <a:cs typeface="Trebuchet MS"/>
                <a:sym typeface="Trebuchet MS"/>
              </a:defRPr>
            </a:lvl4pPr>
            <a:lvl5pPr marL="2286000" marR="0" lvl="4" indent="-326898" algn="l" rtl="0">
              <a:lnSpc>
                <a:spcPct val="90000"/>
              </a:lnSpc>
              <a:spcBef>
                <a:spcPts val="500"/>
              </a:spcBef>
              <a:spcAft>
                <a:spcPts val="0"/>
              </a:spcAft>
              <a:buClr>
                <a:srgbClr val="007931"/>
              </a:buClr>
              <a:buSzPts val="1548"/>
              <a:buFont typeface="Noto Sans Symbols"/>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10"/>
          <p:cNvSpPr/>
          <p:nvPr/>
        </p:nvSpPr>
        <p:spPr>
          <a:xfrm>
            <a:off x="838200" y="1508126"/>
            <a:ext cx="11353800" cy="179387"/>
          </a:xfrm>
          <a:prstGeom prst="rect">
            <a:avLst/>
          </a:prstGeom>
          <a:solidFill>
            <a:srgbClr val="0B3D9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4" name="Google Shape;14;p10"/>
          <p:cNvSpPr/>
          <p:nvPr/>
        </p:nvSpPr>
        <p:spPr>
          <a:xfrm>
            <a:off x="0" y="1508126"/>
            <a:ext cx="838200" cy="179387"/>
          </a:xfrm>
          <a:prstGeom prst="rect">
            <a:avLst/>
          </a:prstGeom>
          <a:solidFill>
            <a:srgbClr val="D7014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5" name="Google Shape;15;p10"/>
          <p:cNvSpPr/>
          <p:nvPr/>
        </p:nvSpPr>
        <p:spPr>
          <a:xfrm>
            <a:off x="838200" y="1508125"/>
            <a:ext cx="838200" cy="179387"/>
          </a:xfrm>
          <a:prstGeom prst="rect">
            <a:avLst/>
          </a:prstGeom>
          <a:solidFill>
            <a:srgbClr val="FFD9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6" name="Google Shape;16;p10"/>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fld id="{06B6EEB5-686E-4034-A9A1-6A9DF57B7100}" type="datetimeFigureOut">
              <a:rPr lang="en-US" smtClean="0"/>
              <a:t>12/10/2025</a:t>
            </a:fld>
            <a:endParaRPr lang="en-US"/>
          </a:p>
        </p:txBody>
      </p:sp>
      <p:sp>
        <p:nvSpPr>
          <p:cNvPr id="17" name="Google Shape;17;p10"/>
          <p:cNvSpPr txBox="1">
            <a:spLocks noGrp="1"/>
          </p:cNvSpPr>
          <p:nvPr>
            <p:ph type="ftr" idx="11"/>
          </p:nvPr>
        </p:nvSpPr>
        <p:spPr>
          <a:xfrm>
            <a:off x="2116899" y="6251714"/>
            <a:ext cx="8129391" cy="469762"/>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lang="en-US"/>
          </a:p>
        </p:txBody>
      </p:sp>
      <p:sp>
        <p:nvSpPr>
          <p:cNvPr id="18" name="Google Shape;18;p10"/>
          <p:cNvSpPr txBox="1"/>
          <p:nvPr/>
        </p:nvSpPr>
        <p:spPr>
          <a:xfrm>
            <a:off x="2116899" y="6356350"/>
            <a:ext cx="7517429"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50"/>
              <a:buFont typeface="Arial"/>
              <a:buNone/>
            </a:pPr>
            <a:r>
              <a:rPr lang="en-GB" sz="850" b="1" i="0" u="none" strike="noStrike" cap="none">
                <a:solidFill>
                  <a:srgbClr val="0B3D91"/>
                </a:solidFill>
                <a:latin typeface="Trebuchet MS"/>
                <a:ea typeface="Trebuchet MS"/>
                <a:cs typeface="Trebuchet MS"/>
                <a:sym typeface="Trebuchet MS"/>
              </a:rPr>
              <a:t>A Complete Education for A Complete Person</a:t>
            </a:r>
            <a:br>
              <a:rPr lang="en-GB" sz="700" b="0" i="0" u="none" strike="noStrike" cap="none">
                <a:solidFill>
                  <a:schemeClr val="dk1"/>
                </a:solidFill>
                <a:latin typeface="Trebuchet MS"/>
                <a:ea typeface="Trebuchet MS"/>
                <a:cs typeface="Trebuchet MS"/>
                <a:sym typeface="Trebuchet MS"/>
              </a:rPr>
            </a:br>
            <a:r>
              <a:rPr lang="en-GB" sz="700" b="0" i="0" u="none" strike="noStrike" cap="none">
                <a:solidFill>
                  <a:schemeClr val="dk1"/>
                </a:solidFill>
                <a:latin typeface="Trebuchet MS"/>
                <a:ea typeface="Trebuchet MS"/>
                <a:cs typeface="Trebuchet MS"/>
                <a:sym typeface="Trebuchet MS"/>
              </a:rPr>
              <a:t>P.O. Box 4, Mukono, Uganda, Plot 67-173, Bishop Tucker Road, Mukono Hill | Tel: +256 (0) 312 350 800 Email: </a:t>
            </a:r>
            <a:r>
              <a:rPr lang="en-GB" sz="700" b="0" i="0" u="sng" strike="noStrike" cap="none">
                <a:solidFill>
                  <a:srgbClr val="0000FF"/>
                </a:solidFill>
                <a:latin typeface="Trebuchet MS"/>
                <a:ea typeface="Trebuchet MS"/>
                <a:cs typeface="Trebuchet MS"/>
                <a:sym typeface="Trebuchet MS"/>
                <a:hlinkClick r:id="rId11">
                  <a:extLst>
                    <a:ext uri="{A12FA001-AC4F-418D-AE19-62706E023703}">
                      <ahyp:hlinkClr xmlns:ahyp="http://schemas.microsoft.com/office/drawing/2018/hyperlinkcolor" val="tx"/>
                    </a:ext>
                  </a:extLst>
                </a:hlinkClick>
              </a:rPr>
              <a:t>info@ucu.ac.ug</a:t>
            </a:r>
            <a:r>
              <a:rPr lang="en-GB" sz="700" b="0" i="0" u="none" strike="noStrike" cap="none">
                <a:solidFill>
                  <a:srgbClr val="0000FF"/>
                </a:solidFill>
                <a:latin typeface="Trebuchet MS"/>
                <a:ea typeface="Trebuchet MS"/>
                <a:cs typeface="Trebuchet MS"/>
                <a:sym typeface="Trebuchet MS"/>
              </a:rPr>
              <a:t> </a:t>
            </a:r>
            <a:r>
              <a:rPr lang="en-GB" sz="700" b="0" i="0" u="none" strike="noStrike" cap="none">
                <a:solidFill>
                  <a:schemeClr val="dk1"/>
                </a:solidFill>
                <a:latin typeface="Trebuchet MS"/>
                <a:ea typeface="Trebuchet MS"/>
                <a:cs typeface="Trebuchet MS"/>
                <a:sym typeface="Trebuchet MS"/>
              </a:rPr>
              <a:t>Web: </a:t>
            </a:r>
            <a:r>
              <a:rPr lang="en-GB" sz="700" b="0" i="0" u="sng" strike="noStrike" cap="none">
                <a:solidFill>
                  <a:srgbClr val="0000FF"/>
                </a:solidFill>
                <a:latin typeface="Trebuchet MS"/>
                <a:ea typeface="Trebuchet MS"/>
                <a:cs typeface="Trebuchet MS"/>
                <a:sym typeface="Trebuchet MS"/>
              </a:rPr>
              <a:t>https://</a:t>
            </a:r>
            <a:r>
              <a:rPr lang="en-GB" sz="700" b="0" i="0" u="sng" strike="noStrike" cap="none">
                <a:solidFill>
                  <a:srgbClr val="0000FF"/>
                </a:solidFill>
                <a:latin typeface="Trebuchet MS"/>
                <a:ea typeface="Trebuchet MS"/>
                <a:cs typeface="Trebuchet MS"/>
                <a:sym typeface="Trebuchet MS"/>
                <a:hlinkClick r:id="rId12">
                  <a:extLst>
                    <a:ext uri="{A12FA001-AC4F-418D-AE19-62706E023703}">
                      <ahyp:hlinkClr xmlns:ahyp="http://schemas.microsoft.com/office/drawing/2018/hyperlinkcolor" val="tx"/>
                    </a:ext>
                  </a:extLst>
                </a:hlinkClick>
              </a:rPr>
              <a:t>ucu.ac.ug</a:t>
            </a:r>
            <a:endParaRPr sz="700" b="0" i="0" u="sng" strike="noStrike" cap="none">
              <a:solidFill>
                <a:srgbClr val="0000FF"/>
              </a:solidFill>
              <a:latin typeface="Trebuchet MS"/>
              <a:ea typeface="Trebuchet MS"/>
              <a:cs typeface="Trebuchet MS"/>
              <a:sym typeface="Trebuchet MS"/>
            </a:endParaRPr>
          </a:p>
          <a:p>
            <a:pPr marL="0" marR="0" lvl="0" indent="0" algn="ctr" rtl="0">
              <a:lnSpc>
                <a:spcPct val="100000"/>
              </a:lnSpc>
              <a:spcBef>
                <a:spcPts val="0"/>
              </a:spcBef>
              <a:spcAft>
                <a:spcPts val="0"/>
              </a:spcAft>
              <a:buClr>
                <a:srgbClr val="000000"/>
              </a:buClr>
              <a:buSzPts val="650"/>
              <a:buFont typeface="Arial"/>
              <a:buNone/>
            </a:pPr>
            <a:r>
              <a:rPr lang="en-GB" sz="650" b="0" i="0" u="none" strike="noStrike" cap="none">
                <a:solidFill>
                  <a:schemeClr val="dk1"/>
                </a:solidFill>
                <a:latin typeface="Trebuchet MS"/>
                <a:ea typeface="Trebuchet MS"/>
                <a:cs typeface="Trebuchet MS"/>
                <a:sym typeface="Trebuchet MS"/>
              </a:rPr>
              <a:t>Founded by the Province of the Church of Uganda. Chartered by the Government of Uganda</a:t>
            </a:r>
            <a:endParaRPr sz="650" b="0" i="0" u="none" strike="noStrike" cap="none">
              <a:solidFill>
                <a:schemeClr val="dk1"/>
              </a:solidFill>
              <a:latin typeface="Trebuchet MS"/>
              <a:ea typeface="Trebuchet MS"/>
              <a:cs typeface="Trebuchet MS"/>
              <a:sym typeface="Trebuchet MS"/>
            </a:endParaRPr>
          </a:p>
        </p:txBody>
      </p:sp>
      <p:cxnSp>
        <p:nvCxnSpPr>
          <p:cNvPr id="19" name="Google Shape;19;p10"/>
          <p:cNvCxnSpPr/>
          <p:nvPr/>
        </p:nvCxnSpPr>
        <p:spPr>
          <a:xfrm>
            <a:off x="0" y="6395027"/>
            <a:ext cx="12192000" cy="0"/>
          </a:xfrm>
          <a:prstGeom prst="straightConnector1">
            <a:avLst/>
          </a:prstGeom>
          <a:noFill/>
          <a:ln w="12700" cap="flat" cmpd="sng">
            <a:solidFill>
              <a:srgbClr val="D70167"/>
            </a:solidFill>
            <a:prstDash val="solid"/>
            <a:miter lim="800000"/>
            <a:headEnd type="none" w="sm" len="sm"/>
            <a:tailEnd type="none" w="sm" len="sm"/>
          </a:ln>
        </p:spPr>
      </p:cxnSp>
      <p:pic>
        <p:nvPicPr>
          <p:cNvPr id="20" name="Google Shape;20;p10"/>
          <p:cNvPicPr preferRelativeResize="0"/>
          <p:nvPr/>
        </p:nvPicPr>
        <p:blipFill rotWithShape="1">
          <a:blip r:embed="rId13">
            <a:alphaModFix/>
          </a:blip>
          <a:srcRect b="42643"/>
          <a:stretch/>
        </p:blipFill>
        <p:spPr>
          <a:xfrm>
            <a:off x="0" y="5412967"/>
            <a:ext cx="1162289" cy="1445033"/>
          </a:xfrm>
          <a:prstGeom prst="rect">
            <a:avLst/>
          </a:prstGeom>
          <a:noFill/>
          <a:ln>
            <a:noFill/>
          </a:ln>
        </p:spPr>
      </p:pic>
      <p:sp>
        <p:nvSpPr>
          <p:cNvPr id="21" name="Google Shape;2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fld id="{F1D4E49D-861B-4137-B84E-954B467BCFC8}" type="slidenum">
              <a:rPr lang="en-US" smtClean="0"/>
              <a:t>‹#›</a:t>
            </a:fld>
            <a:endParaRPr lang="en-US"/>
          </a:p>
        </p:txBody>
      </p:sp>
    </p:spTree>
    <p:extLst>
      <p:ext uri="{BB962C8B-B14F-4D97-AF65-F5344CB8AC3E}">
        <p14:creationId xmlns:p14="http://schemas.microsoft.com/office/powerpoint/2010/main" val="280009998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CB31-8BC4-A412-BF18-BAD003919F93}"/>
              </a:ext>
            </a:extLst>
          </p:cNvPr>
          <p:cNvSpPr>
            <a:spLocks noGrp="1"/>
          </p:cNvSpPr>
          <p:nvPr>
            <p:ph type="ctrTitle"/>
          </p:nvPr>
        </p:nvSpPr>
        <p:spPr>
          <a:xfrm>
            <a:off x="548640" y="1991360"/>
            <a:ext cx="10762488" cy="1757680"/>
          </a:xfrm>
        </p:spPr>
        <p:txBody>
          <a:bodyPr>
            <a:noAutofit/>
          </a:bodyPr>
          <a:lstStyle/>
          <a:p>
            <a:r>
              <a:rPr lang="en-US" sz="4600" dirty="0"/>
              <a:t>Enhancing Immigration Health Assessment Data Analysis in Uganda Using Python</a:t>
            </a:r>
          </a:p>
        </p:txBody>
      </p:sp>
      <p:sp>
        <p:nvSpPr>
          <p:cNvPr id="3" name="Subtitle 2">
            <a:extLst>
              <a:ext uri="{FF2B5EF4-FFF2-40B4-BE49-F238E27FC236}">
                <a16:creationId xmlns:a16="http://schemas.microsoft.com/office/drawing/2014/main" id="{EA421E98-E372-B5E3-3B0C-9A1B9774C286}"/>
              </a:ext>
            </a:extLst>
          </p:cNvPr>
          <p:cNvSpPr>
            <a:spLocks noGrp="1"/>
          </p:cNvSpPr>
          <p:nvPr>
            <p:ph type="subTitle" idx="1"/>
          </p:nvPr>
        </p:nvSpPr>
        <p:spPr>
          <a:xfrm>
            <a:off x="1524000" y="4205542"/>
            <a:ext cx="9144000" cy="1655762"/>
          </a:xfrm>
        </p:spPr>
        <p:txBody>
          <a:bodyPr/>
          <a:lstStyle/>
          <a:p>
            <a:r>
              <a:rPr lang="en-US" dirty="0"/>
              <a:t>MASTER OF SCIENCE IN DATA SCIENCE AND ANALYTICS</a:t>
            </a:r>
          </a:p>
          <a:p>
            <a:r>
              <a:rPr lang="en-US" dirty="0"/>
              <a:t>CSC8101 - OBJECT ORIENTED PROGRAMMING</a:t>
            </a:r>
          </a:p>
          <a:p>
            <a:r>
              <a:rPr lang="en-US" b="1" dirty="0"/>
              <a:t>SAMUEL KAMUTUNGYE – B35097</a:t>
            </a:r>
          </a:p>
        </p:txBody>
      </p:sp>
    </p:spTree>
    <p:extLst>
      <p:ext uri="{BB962C8B-B14F-4D97-AF65-F5344CB8AC3E}">
        <p14:creationId xmlns:p14="http://schemas.microsoft.com/office/powerpoint/2010/main" val="3512439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468A-13C9-1122-0EF2-E82EFF8549CA}"/>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FB33F435-0290-DA82-F64D-82B603483E7D}"/>
              </a:ext>
            </a:extLst>
          </p:cNvPr>
          <p:cNvSpPr>
            <a:spLocks noGrp="1"/>
          </p:cNvSpPr>
          <p:nvPr>
            <p:ph type="body" idx="1"/>
          </p:nvPr>
        </p:nvSpPr>
        <p:spPr/>
        <p:txBody>
          <a:bodyPr>
            <a:normAutofit fontScale="92500" lnSpcReduction="20000"/>
          </a:bodyPr>
          <a:lstStyle/>
          <a:p>
            <a:pPr algn="just"/>
            <a:r>
              <a:rPr lang="en-US" dirty="0"/>
              <a:t>Migration across Africa is on the rise, driven by a combination of socio-economic challenges, armed conflicts, and environmental factors. </a:t>
            </a:r>
          </a:p>
          <a:p>
            <a:pPr algn="just"/>
            <a:r>
              <a:rPr lang="en-US" dirty="0"/>
              <a:t>Sub-Saharan Africa currently hosts more than 26% of the world’s refugee population, over 18 million people. Since 2010, intra-African migration has grown by nearly 44%. </a:t>
            </a:r>
          </a:p>
          <a:p>
            <a:pPr algn="just"/>
            <a:r>
              <a:rPr lang="en-US" dirty="0"/>
              <a:t>Conflicts, such as the civil wars in Ethiopia and Sudan, have contributed significantly to forced displacement. </a:t>
            </a:r>
          </a:p>
          <a:p>
            <a:pPr algn="just"/>
            <a:r>
              <a:rPr lang="en-US" dirty="0"/>
              <a:t>In addition, climate change has emerged as a growing catalyst, with the United Nations Intergovernmental Panel on Climate Change (IPCC) reporting that weather-related events led to 2.6 million and 3.4 million new displacements in sub-Saharan Africa in 2018 and 2019, respectively (</a:t>
            </a:r>
            <a:r>
              <a:rPr lang="en-US" dirty="0" err="1"/>
              <a:t>Lokotola</a:t>
            </a:r>
            <a:r>
              <a:rPr lang="en-US" dirty="0"/>
              <a:t> et al., 2024).</a:t>
            </a:r>
          </a:p>
        </p:txBody>
      </p:sp>
    </p:spTree>
    <p:extLst>
      <p:ext uri="{BB962C8B-B14F-4D97-AF65-F5344CB8AC3E}">
        <p14:creationId xmlns:p14="http://schemas.microsoft.com/office/powerpoint/2010/main" val="429482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D5735-0BD0-FE2A-2AD5-CC509B68F79A}"/>
              </a:ext>
            </a:extLst>
          </p:cNvPr>
          <p:cNvSpPr>
            <a:spLocks noGrp="1"/>
          </p:cNvSpPr>
          <p:nvPr>
            <p:ph type="title"/>
          </p:nvPr>
        </p:nvSpPr>
        <p:spPr/>
        <p:txBody>
          <a:bodyPr/>
          <a:lstStyle/>
          <a:p>
            <a:r>
              <a:rPr lang="en-US" dirty="0"/>
              <a:t>Background </a:t>
            </a:r>
            <a:r>
              <a:rPr lang="en-US" dirty="0" err="1"/>
              <a:t>Ctd</a:t>
            </a:r>
            <a:r>
              <a:rPr lang="en-US" dirty="0"/>
              <a:t>…</a:t>
            </a:r>
          </a:p>
        </p:txBody>
      </p:sp>
      <p:sp>
        <p:nvSpPr>
          <p:cNvPr id="3" name="Content Placeholder 2">
            <a:extLst>
              <a:ext uri="{FF2B5EF4-FFF2-40B4-BE49-F238E27FC236}">
                <a16:creationId xmlns:a16="http://schemas.microsoft.com/office/drawing/2014/main" id="{5D157223-D8BF-C287-3284-757DACFE62DB}"/>
              </a:ext>
            </a:extLst>
          </p:cNvPr>
          <p:cNvSpPr>
            <a:spLocks noGrp="1"/>
          </p:cNvSpPr>
          <p:nvPr>
            <p:ph type="body" idx="1"/>
          </p:nvPr>
        </p:nvSpPr>
        <p:spPr/>
        <p:txBody>
          <a:bodyPr/>
          <a:lstStyle/>
          <a:p>
            <a:pPr algn="just"/>
            <a:r>
              <a:rPr lang="en-US" dirty="0"/>
              <a:t>Immigration health assessments (IHAs) are essential for protecting public health at both national and regional levels. </a:t>
            </a:r>
          </a:p>
          <a:p>
            <a:pPr algn="just"/>
            <a:r>
              <a:rPr lang="en-US" dirty="0"/>
              <a:t>Countries like Kenya, Uganda, Tanzania, Rwanda, and Ethiopia act as key migration hubs, accommodating refugees, asylum seekers, labor migrants, and other travelers. </a:t>
            </a:r>
          </a:p>
          <a:p>
            <a:pPr algn="just"/>
            <a:r>
              <a:rPr lang="en-US" dirty="0"/>
              <a:t>Governments in partnership with organizations such as IOM and WHO, carry out </a:t>
            </a:r>
            <a:r>
              <a:rPr lang="en-US" b="1" dirty="0"/>
              <a:t>IHAs</a:t>
            </a:r>
            <a:r>
              <a:rPr lang="en-US" dirty="0"/>
              <a:t> to detect and address health issues of public concern, including TB, HIV, and diseases preventable by vaccines.</a:t>
            </a:r>
          </a:p>
        </p:txBody>
      </p:sp>
    </p:spTree>
    <p:extLst>
      <p:ext uri="{BB962C8B-B14F-4D97-AF65-F5344CB8AC3E}">
        <p14:creationId xmlns:p14="http://schemas.microsoft.com/office/powerpoint/2010/main" val="916578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418FF-DDC9-0D85-72E5-1EFC342B50C5}"/>
              </a:ext>
            </a:extLst>
          </p:cNvPr>
          <p:cNvSpPr>
            <a:spLocks noGrp="1"/>
          </p:cNvSpPr>
          <p:nvPr>
            <p:ph type="title"/>
          </p:nvPr>
        </p:nvSpPr>
        <p:spPr/>
        <p:txBody>
          <a:bodyPr/>
          <a:lstStyle/>
          <a:p>
            <a:r>
              <a:rPr lang="en-US" dirty="0"/>
              <a:t>Impact of MHACs</a:t>
            </a:r>
          </a:p>
        </p:txBody>
      </p:sp>
      <p:sp>
        <p:nvSpPr>
          <p:cNvPr id="3" name="Content Placeholder 2">
            <a:extLst>
              <a:ext uri="{FF2B5EF4-FFF2-40B4-BE49-F238E27FC236}">
                <a16:creationId xmlns:a16="http://schemas.microsoft.com/office/drawing/2014/main" id="{AB6795C7-04F6-044B-B7F3-9909E5378A4F}"/>
              </a:ext>
            </a:extLst>
          </p:cNvPr>
          <p:cNvSpPr>
            <a:spLocks noGrp="1"/>
          </p:cNvSpPr>
          <p:nvPr>
            <p:ph type="body" idx="1"/>
          </p:nvPr>
        </p:nvSpPr>
        <p:spPr/>
        <p:txBody>
          <a:bodyPr>
            <a:normAutofit lnSpcReduction="10000"/>
          </a:bodyPr>
          <a:lstStyle/>
          <a:p>
            <a:pPr algn="just"/>
            <a:r>
              <a:rPr lang="en-US" dirty="0"/>
              <a:t>The Migration Health Assessment Centers (MHACs) are responsible for conducting pre-</a:t>
            </a:r>
            <a:r>
              <a:rPr lang="en-US" dirty="0" err="1"/>
              <a:t>ressetlement</a:t>
            </a:r>
            <a:r>
              <a:rPr lang="en-US" dirty="0"/>
              <a:t> health evaluations for migrants, particularly those being resettled or applying for visas to countries such as the U.S.A, Canada, Australia, and the United Kingdom. </a:t>
            </a:r>
          </a:p>
          <a:p>
            <a:pPr algn="just"/>
            <a:r>
              <a:rPr lang="en-US" dirty="0"/>
              <a:t>These evaluations involve reviewing medical histories, performing physical exams, conducting diagnostic tests like chest X-rays, blood work, and administering vaccinations. </a:t>
            </a:r>
          </a:p>
          <a:p>
            <a:pPr algn="just"/>
            <a:r>
              <a:rPr lang="en-US" dirty="0"/>
              <a:t>As a highly data-driven process, accurate reporting is essential to meet international health and immigration standards</a:t>
            </a:r>
          </a:p>
        </p:txBody>
      </p:sp>
    </p:spTree>
    <p:extLst>
      <p:ext uri="{BB962C8B-B14F-4D97-AF65-F5344CB8AC3E}">
        <p14:creationId xmlns:p14="http://schemas.microsoft.com/office/powerpoint/2010/main" val="1038035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B837D-53C7-C8F9-0F66-2267F1903C21}"/>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90919150-43B2-5A47-77E6-08EA7F38C6E6}"/>
              </a:ext>
            </a:extLst>
          </p:cNvPr>
          <p:cNvSpPr>
            <a:spLocks noGrp="1"/>
          </p:cNvSpPr>
          <p:nvPr>
            <p:ph type="body" idx="1"/>
          </p:nvPr>
        </p:nvSpPr>
        <p:spPr/>
        <p:txBody>
          <a:bodyPr>
            <a:normAutofit fontScale="85000" lnSpcReduction="20000"/>
          </a:bodyPr>
          <a:lstStyle/>
          <a:p>
            <a:pPr algn="just"/>
            <a:r>
              <a:rPr lang="en-US" dirty="0"/>
              <a:t>Several data management challenges hinder the efficiency of these assessments. These include </a:t>
            </a:r>
          </a:p>
          <a:p>
            <a:pPr lvl="1" algn="just"/>
            <a:r>
              <a:rPr lang="en-US" dirty="0"/>
              <a:t>fragmented data systems</a:t>
            </a:r>
          </a:p>
          <a:p>
            <a:pPr lvl="1" algn="just"/>
            <a:r>
              <a:rPr lang="en-US" dirty="0"/>
              <a:t>reliance on manual processes that increase the risk of errors</a:t>
            </a:r>
          </a:p>
          <a:p>
            <a:pPr lvl="1" algn="just"/>
            <a:r>
              <a:rPr lang="en-US" dirty="0"/>
              <a:t>lack of real-time analytics that delays outbreak detection and response, and </a:t>
            </a:r>
          </a:p>
          <a:p>
            <a:pPr lvl="1" algn="just"/>
            <a:r>
              <a:rPr lang="en-US" dirty="0"/>
              <a:t>poor integration with national disease surveillance systems. </a:t>
            </a:r>
          </a:p>
          <a:p>
            <a:pPr algn="just"/>
            <a:r>
              <a:rPr lang="en-US" dirty="0"/>
              <a:t>While digital health initiatives are advancing in countries such as Kenya and Uganda, health systems tailored specifically to migration remain limited in development. </a:t>
            </a:r>
          </a:p>
          <a:p>
            <a:pPr algn="just"/>
            <a:r>
              <a:rPr lang="en-US" dirty="0"/>
              <a:t>Utilizing Python-based data science and automation tools presents a cost-effective and scalable way to streamline the processing and analysis of health assessment data, enhancing data accuracy, accelerating response times, and supporting more informed policy decisions</a:t>
            </a:r>
          </a:p>
        </p:txBody>
      </p:sp>
    </p:spTree>
    <p:extLst>
      <p:ext uri="{BB962C8B-B14F-4D97-AF65-F5344CB8AC3E}">
        <p14:creationId xmlns:p14="http://schemas.microsoft.com/office/powerpoint/2010/main" val="321815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7AAB1-D8CF-63D2-CE59-8CCBA52541EB}"/>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06D918BF-E867-37B0-90B8-6A5D2DED989E}"/>
              </a:ext>
            </a:extLst>
          </p:cNvPr>
          <p:cNvSpPr>
            <a:spLocks noGrp="1"/>
          </p:cNvSpPr>
          <p:nvPr>
            <p:ph type="body" idx="1"/>
          </p:nvPr>
        </p:nvSpPr>
        <p:spPr/>
        <p:txBody>
          <a:bodyPr>
            <a:normAutofit lnSpcReduction="10000"/>
          </a:bodyPr>
          <a:lstStyle/>
          <a:p>
            <a:pPr algn="just"/>
            <a:r>
              <a:rPr lang="en-US" dirty="0"/>
              <a:t>Immigration health assessments play a vital role in public health oversight and border management throughout Africa. Yet, in many countries, the systems used to gather, manage, and interpret health data from immigrants and refugees remain fragmented, manual, or only partially automated. This results in frequent delays, data entry errors, underreporting of infectious diseases such as tuberculosis and HIV, and overall inefficiencies in decision-making. The absence of a scalable, automated system for analyzing and reporting this data, particularly in areas with limited infrastructure, further hampers timely and effective health responses. </a:t>
            </a:r>
          </a:p>
        </p:txBody>
      </p:sp>
    </p:spTree>
    <p:extLst>
      <p:ext uri="{BB962C8B-B14F-4D97-AF65-F5344CB8AC3E}">
        <p14:creationId xmlns:p14="http://schemas.microsoft.com/office/powerpoint/2010/main" val="323467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60C17-3514-54A4-CB38-0C45CD0F18DF}"/>
              </a:ext>
            </a:extLst>
          </p:cNvPr>
          <p:cNvSpPr>
            <a:spLocks noGrp="1"/>
          </p:cNvSpPr>
          <p:nvPr>
            <p:ph type="title"/>
          </p:nvPr>
        </p:nvSpPr>
        <p:spPr/>
        <p:txBody>
          <a:bodyPr/>
          <a:lstStyle/>
          <a:p>
            <a:r>
              <a:rPr lang="en-US" dirty="0"/>
              <a:t>Main Objective</a:t>
            </a:r>
          </a:p>
        </p:txBody>
      </p:sp>
      <p:sp>
        <p:nvSpPr>
          <p:cNvPr id="3" name="Content Placeholder 2">
            <a:extLst>
              <a:ext uri="{FF2B5EF4-FFF2-40B4-BE49-F238E27FC236}">
                <a16:creationId xmlns:a16="http://schemas.microsoft.com/office/drawing/2014/main" id="{B7382003-8C35-0A64-CC73-161774874561}"/>
              </a:ext>
            </a:extLst>
          </p:cNvPr>
          <p:cNvSpPr>
            <a:spLocks noGrp="1"/>
          </p:cNvSpPr>
          <p:nvPr>
            <p:ph type="body" idx="1"/>
          </p:nvPr>
        </p:nvSpPr>
        <p:spPr/>
        <p:txBody>
          <a:bodyPr>
            <a:normAutofit fontScale="92500" lnSpcReduction="20000"/>
          </a:bodyPr>
          <a:lstStyle/>
          <a:p>
            <a:pPr marL="0" indent="0" algn="just">
              <a:buNone/>
            </a:pPr>
            <a:r>
              <a:rPr lang="en-US" dirty="0"/>
              <a:t>To develop a scalable, automated data management and analysis system for immigration health assessments. </a:t>
            </a:r>
          </a:p>
          <a:p>
            <a:pPr marL="0" indent="0" algn="just">
              <a:buNone/>
            </a:pPr>
            <a:endParaRPr lang="en-US" b="1" dirty="0"/>
          </a:p>
          <a:p>
            <a:pPr marL="0" indent="0" algn="just">
              <a:buNone/>
            </a:pPr>
            <a:r>
              <a:rPr lang="en-US" b="1" dirty="0"/>
              <a:t>Specific Objectives </a:t>
            </a:r>
          </a:p>
          <a:p>
            <a:pPr algn="just"/>
            <a:r>
              <a:rPr lang="en-US" dirty="0"/>
              <a:t>To design a Python-based data pipeline to efficiently collect, clean, and process immigration health assessment data. </a:t>
            </a:r>
          </a:p>
          <a:p>
            <a:pPr algn="just"/>
            <a:r>
              <a:rPr lang="en-US" dirty="0"/>
              <a:t>To automate the reporting of health assessment outcomes to reduce delays and minimize human error in data entry and analysis. </a:t>
            </a:r>
          </a:p>
          <a:p>
            <a:pPr algn="just"/>
            <a:r>
              <a:rPr lang="en-US" dirty="0"/>
              <a:t>To integrate the developed system with existing national health information systems to support broader disease surveillance and public health planning.</a:t>
            </a:r>
          </a:p>
        </p:txBody>
      </p:sp>
    </p:spTree>
    <p:extLst>
      <p:ext uri="{BB962C8B-B14F-4D97-AF65-F5344CB8AC3E}">
        <p14:creationId xmlns:p14="http://schemas.microsoft.com/office/powerpoint/2010/main" val="3486669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EB23-5A7F-C300-9C73-3B345FE04E61}"/>
              </a:ext>
            </a:extLst>
          </p:cNvPr>
          <p:cNvSpPr>
            <a:spLocks noGrp="1"/>
          </p:cNvSpPr>
          <p:nvPr>
            <p:ph type="title"/>
          </p:nvPr>
        </p:nvSpPr>
        <p:spPr/>
        <p:txBody>
          <a:bodyPr/>
          <a:lstStyle/>
          <a:p>
            <a:r>
              <a:rPr lang="en-US" dirty="0"/>
              <a:t>Significance of the project</a:t>
            </a:r>
          </a:p>
        </p:txBody>
      </p:sp>
      <p:sp>
        <p:nvSpPr>
          <p:cNvPr id="3" name="Content Placeholder 2">
            <a:extLst>
              <a:ext uri="{FF2B5EF4-FFF2-40B4-BE49-F238E27FC236}">
                <a16:creationId xmlns:a16="http://schemas.microsoft.com/office/drawing/2014/main" id="{A5B31E99-DF68-0617-7519-5F033D1C4342}"/>
              </a:ext>
            </a:extLst>
          </p:cNvPr>
          <p:cNvSpPr>
            <a:spLocks noGrp="1"/>
          </p:cNvSpPr>
          <p:nvPr>
            <p:ph type="body" idx="1"/>
          </p:nvPr>
        </p:nvSpPr>
        <p:spPr/>
        <p:txBody>
          <a:bodyPr>
            <a:normAutofit fontScale="85000" lnSpcReduction="20000"/>
          </a:bodyPr>
          <a:lstStyle/>
          <a:p>
            <a:pPr algn="just"/>
            <a:r>
              <a:rPr lang="en-US" dirty="0"/>
              <a:t>Africa experiences high levels of both regional and international migration. To manage this, health authorities and international organizations carry out medical screenings to detect diseases, confirm vaccinations, and determine individuals’ fitness for travel or resettlement. </a:t>
            </a:r>
          </a:p>
          <a:p>
            <a:pPr algn="just"/>
            <a:r>
              <a:rPr lang="en-US" dirty="0"/>
              <a:t>Digital-based solution can significantly improve the efficiency, accuracy, and timeliness of immigration health data processing</a:t>
            </a:r>
          </a:p>
          <a:p>
            <a:pPr algn="just"/>
            <a:r>
              <a:rPr lang="en-US" dirty="0"/>
              <a:t> Through real-time analytics, disease trend detection, and data visualization, such a system would strengthen public health monitoring and inform policy decisions. </a:t>
            </a:r>
          </a:p>
          <a:p>
            <a:pPr algn="just"/>
            <a:r>
              <a:rPr lang="en-US" dirty="0"/>
              <a:t>Fill critical gaps in immigration health assessment by using data science and automation tools to support evidence-based planning, enhance disease response, and streamline operations at border and immigration health facilities</a:t>
            </a:r>
          </a:p>
        </p:txBody>
      </p:sp>
    </p:spTree>
    <p:extLst>
      <p:ext uri="{BB962C8B-B14F-4D97-AF65-F5344CB8AC3E}">
        <p14:creationId xmlns:p14="http://schemas.microsoft.com/office/powerpoint/2010/main" val="385383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9972-175D-7CA1-A232-9540824212C3}"/>
              </a:ext>
            </a:extLst>
          </p:cNvPr>
          <p:cNvSpPr>
            <a:spLocks noGrp="1"/>
          </p:cNvSpPr>
          <p:nvPr>
            <p:ph type="title"/>
          </p:nvPr>
        </p:nvSpPr>
        <p:spPr>
          <a:xfrm>
            <a:off x="838200" y="2267077"/>
            <a:ext cx="10515600" cy="1325563"/>
          </a:xfrm>
        </p:spPr>
        <p:txBody>
          <a:bodyPr>
            <a:normAutofit/>
          </a:bodyPr>
          <a:lstStyle/>
          <a:p>
            <a:pPr algn="ctr"/>
            <a:r>
              <a:rPr lang="en-US" sz="6000" dirty="0"/>
              <a:t>Thank you</a:t>
            </a:r>
          </a:p>
        </p:txBody>
      </p:sp>
    </p:spTree>
    <p:extLst>
      <p:ext uri="{BB962C8B-B14F-4D97-AF65-F5344CB8AC3E}">
        <p14:creationId xmlns:p14="http://schemas.microsoft.com/office/powerpoint/2010/main" val="2785618263"/>
      </p:ext>
    </p:extLst>
  </p:cSld>
  <p:clrMapOvr>
    <a:masterClrMapping/>
  </p:clrMapOvr>
</p:sld>
</file>

<file path=ppt/theme/theme1.xml><?xml version="1.0" encoding="utf-8"?>
<a:theme xmlns:a="http://schemas.openxmlformats.org/drawingml/2006/main" name="Theme1">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BAD2713-C1E8-40B6-8C15-2414357B6266}" vid="{F3AD7340-1006-46CC-86B5-B469C0AC7A5E}"/>
    </a:ext>
  </a:extLst>
</a:theme>
</file>

<file path=docProps/app.xml><?xml version="1.0" encoding="utf-8"?>
<Properties xmlns="http://schemas.openxmlformats.org/officeDocument/2006/extended-properties" xmlns:vt="http://schemas.openxmlformats.org/officeDocument/2006/docPropsVTypes">
  <Template>Theme1</Template>
  <TotalTime>75</TotalTime>
  <Words>752</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Noto Sans Symbols</vt:lpstr>
      <vt:lpstr>Trebuchet MS</vt:lpstr>
      <vt:lpstr>Theme1</vt:lpstr>
      <vt:lpstr>Enhancing Immigration Health Assessment Data Analysis in Uganda Using Python</vt:lpstr>
      <vt:lpstr>Background</vt:lpstr>
      <vt:lpstr>Background Ctd…</vt:lpstr>
      <vt:lpstr>Impact of MHACs</vt:lpstr>
      <vt:lpstr>Challenges</vt:lpstr>
      <vt:lpstr>Problem Statement</vt:lpstr>
      <vt:lpstr>Main Objective</vt:lpstr>
      <vt:lpstr>Significance of the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Kamutungye Samuel</dc:creator>
  <cp:lastModifiedBy>Kamutungye Samuel</cp:lastModifiedBy>
  <cp:revision>3</cp:revision>
  <dcterms:created xsi:type="dcterms:W3CDTF">2025-12-10T10:24:29Z</dcterms:created>
  <dcterms:modified xsi:type="dcterms:W3CDTF">2025-12-10T11:40:21Z</dcterms:modified>
</cp:coreProperties>
</file>